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 LAB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20240"/>
            <a:ext cx="1109441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Chaos Engineering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6324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DEF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SLO-Driven Reference Architecture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3886200"/>
            <a:ext cx="2926080" cy="0"/>
          </a:xfrm>
          <a:prstGeom prst="line">
            <a:avLst/>
          </a:prstGeom>
          <a:noFill/>
          <a:ln w="38100">
            <a:solidFill>
              <a:srgbClr val="E8542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416052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DEF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Validating reliability by deliberately breaking a real service chain — on a single laptop, gated in CI, governed by RBAC.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979408" y="5806440"/>
            <a:ext cx="603504" cy="0"/>
          </a:xfrm>
          <a:prstGeom prst="line">
            <a:avLst/>
          </a:prstGeom>
          <a:noFill/>
          <a:ln w="25400">
            <a:solidFill>
              <a:srgbClr val="E8542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985248" y="5806440"/>
            <a:ext cx="603504" cy="0"/>
          </a:xfrm>
          <a:prstGeom prst="line">
            <a:avLst/>
          </a:prstGeom>
          <a:noFill/>
          <a:ln w="25400">
            <a:solidFill>
              <a:srgbClr val="E854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77072" y="5605272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854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582912" y="5605272"/>
            <a:ext cx="402336" cy="402336"/>
          </a:xfrm>
          <a:prstGeom prst="ellipse">
            <a:avLst/>
          </a:prstGeom>
          <a:solidFill>
            <a:srgbClr val="E8542A"/>
          </a:solidFill>
          <a:ln w="25400">
            <a:solidFill>
              <a:srgbClr val="E854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588752" y="5605272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8542A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96112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993392"/>
            <a:ext cx="310896" cy="310896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9933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87552" y="196596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chaos engineering is — and isn't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496312"/>
            <a:ext cx="310896" cy="310896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49631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87552" y="246888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architecture overview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2999232"/>
            <a:ext cx="310896" cy="310896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99923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987552" y="297180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selection: why Chaos Mesh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3502152"/>
            <a:ext cx="310896" cy="310896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350215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987552" y="347472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 patterns in the service code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4005072"/>
            <a:ext cx="310896" cy="310896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40050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87552" y="397764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catalog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126480" y="1993392"/>
            <a:ext cx="310896" cy="310896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126480" y="19933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565392" y="196596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Governance: RBAC as a real boundary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126480" y="2496312"/>
            <a:ext cx="310896" cy="310896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126480" y="249631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565392" y="246888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as a resilience gate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126480" y="2999232"/>
            <a:ext cx="310896" cy="310896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126480" y="299923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565392" y="297180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before vs. after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126480" y="3502152"/>
            <a:ext cx="310896" cy="310896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126480" y="350215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565392" y="347472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verified finding, and where this goes next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96112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Chaos Engineering, Defined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a hypothesis about how a system behaves under a specific failure, deliberately introduce that failure under a controlled blast radius, and measure whether the hypothesis held.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880360"/>
            <a:ext cx="2514600" cy="1737360"/>
          </a:xfrm>
          <a:prstGeom prst="roundRect">
            <a:avLst>
              <a:gd name="adj" fmla="val 4211"/>
            </a:avLst>
          </a:prstGeom>
          <a:solidFill>
            <a:srgbClr val="F5F7FA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3108960"/>
            <a:ext cx="457200" cy="73152"/>
          </a:xfrm>
          <a:prstGeom prst="roundRect">
            <a:avLst>
              <a:gd name="adj" fmla="val 50000"/>
            </a:avLst>
          </a:prstGeom>
          <a:solidFill>
            <a:srgbClr val="E8542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329184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Hypothesis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749040"/>
            <a:ext cx="2057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Stated before the fault, not inferred after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91840" y="2880360"/>
            <a:ext cx="2514600" cy="1737360"/>
          </a:xfrm>
          <a:prstGeom prst="roundRect">
            <a:avLst>
              <a:gd name="adj" fmla="val 4211"/>
            </a:avLst>
          </a:prstGeom>
          <a:solidFill>
            <a:srgbClr val="F5F7FA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20440" y="3108960"/>
            <a:ext cx="457200" cy="73152"/>
          </a:xfrm>
          <a:prstGeom prst="roundRect">
            <a:avLst>
              <a:gd name="adj" fmla="val 50000"/>
            </a:avLst>
          </a:prstGeom>
          <a:solidFill>
            <a:srgbClr val="E8542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520440" y="329184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Blast radius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520440" y="3749040"/>
            <a:ext cx="2057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pod, one link — never the whole system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035040" y="2880360"/>
            <a:ext cx="2514600" cy="1737360"/>
          </a:xfrm>
          <a:prstGeom prst="roundRect">
            <a:avLst>
              <a:gd name="adj" fmla="val 4211"/>
            </a:avLst>
          </a:prstGeom>
          <a:solidFill>
            <a:srgbClr val="F5F7FA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63640" y="3108960"/>
            <a:ext cx="457200" cy="73152"/>
          </a:xfrm>
          <a:prstGeom prst="roundRect">
            <a:avLst>
              <a:gd name="adj" fmla="val 50000"/>
            </a:avLst>
          </a:prstGeom>
          <a:solidFill>
            <a:srgbClr val="E8542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263640" y="329184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Steady state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3749040"/>
            <a:ext cx="2057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measured baseline, not a feeling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778240" y="2880360"/>
            <a:ext cx="2514600" cy="1737360"/>
          </a:xfrm>
          <a:prstGeom prst="roundRect">
            <a:avLst>
              <a:gd name="adj" fmla="val 4211"/>
            </a:avLst>
          </a:prstGeom>
          <a:solidFill>
            <a:srgbClr val="F5F7FA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006840" y="3108960"/>
            <a:ext cx="457200" cy="73152"/>
          </a:xfrm>
          <a:prstGeom prst="roundRect">
            <a:avLst>
              <a:gd name="adj" fmla="val 50000"/>
            </a:avLst>
          </a:prstGeom>
          <a:solidFill>
            <a:srgbClr val="E8542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006840" y="329184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Abort condition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9006840" y="3749040"/>
            <a:ext cx="2057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trip-wire that halts before incident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892040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what separates an experiment from an outage: the hypothesis, the measurement, and the learning loop.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96112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This, Why Now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892808"/>
            <a:ext cx="10408615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targets are only real if they're tested — an SLO nobody has verified under failure is a guess with a number attached.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3375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8542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337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3264408"/>
            <a:ext cx="10408615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is a certainty in any distributed system; the only open question is whether you learn about it from an experiment or from an incident.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47091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4709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4636008"/>
            <a:ext cx="10408615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moves reliability work from reactive incident response to a continuous, proactive verification loop — the same discipline applied to security or performance testing, applied to failure.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96112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Service Chain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72288" y="2377440"/>
            <a:ext cx="3200400" cy="1188720"/>
          </a:xfrm>
          <a:prstGeom prst="roundRect">
            <a:avLst>
              <a:gd name="adj" fmla="val 7692"/>
            </a:avLst>
          </a:prstGeom>
          <a:solidFill>
            <a:srgbClr val="F5F7FA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72288" y="254203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order-api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09448" y="30175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replicas · serves UI · GET /orders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72688" y="2971800"/>
            <a:ext cx="822960" cy="0"/>
          </a:xfrm>
          <a:prstGeom prst="line">
            <a:avLst/>
          </a:prstGeom>
          <a:noFill/>
          <a:ln w="31750">
            <a:solidFill>
              <a:srgbClr val="E8542A"/>
            </a:solidFill>
            <a:prstDash val="solid"/>
            <a:tailEnd type="triangle"/>
          </a:ln>
        </p:spPr>
      </p:sp>
      <p:sp>
        <p:nvSpPr>
          <p:cNvPr id="9" name="Text 7"/>
          <p:cNvSpPr txBox="1"/>
          <p:nvPr/>
        </p:nvSpPr>
        <p:spPr>
          <a:xfrm>
            <a:off x="3672688" y="2587752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5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/pay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495648" y="2377440"/>
            <a:ext cx="3200400" cy="1188720"/>
          </a:xfrm>
          <a:prstGeom prst="roundRect">
            <a:avLst>
              <a:gd name="adj" fmla="val 7692"/>
            </a:avLst>
          </a:prstGeom>
          <a:solidFill>
            <a:srgbClr val="1B2A4A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95648" y="254203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payment-api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632808" y="30175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DEF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replicas · GET /pay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696048" y="2971800"/>
            <a:ext cx="822960" cy="0"/>
          </a:xfrm>
          <a:prstGeom prst="line">
            <a:avLst/>
          </a:prstGeom>
          <a:noFill/>
          <a:ln w="31750">
            <a:solidFill>
              <a:srgbClr val="E8542A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7696048" y="2587752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5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/reserve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519008" y="2377440"/>
            <a:ext cx="3200400" cy="1188720"/>
          </a:xfrm>
          <a:prstGeom prst="roundRect">
            <a:avLst>
              <a:gd name="adj" fmla="val 7692"/>
            </a:avLst>
          </a:prstGeom>
          <a:solidFill>
            <a:srgbClr val="F5F7FA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519008" y="254203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inventory-api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656168" y="30175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replica · GET /reserve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251960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FastAPI services, one synchronous call chain, on a single-node kind cluster — no cloud account required.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96112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Runs Alongside It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257800" cy="1691640"/>
          </a:xfrm>
          <a:prstGeom prst="roundRect">
            <a:avLst>
              <a:gd name="adj" fmla="val 4324"/>
            </a:avLst>
          </a:prstGeom>
          <a:solidFill>
            <a:srgbClr val="F5F7FA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103120"/>
            <a:ext cx="128016" cy="128016"/>
          </a:xfrm>
          <a:prstGeom prst="ellipse">
            <a:avLst/>
          </a:prstGeom>
          <a:solidFill>
            <a:srgbClr val="1F9D7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2011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Chaos Mesh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468880"/>
            <a:ext cx="4800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Controller-manager and per-node daemon, Helm-installed into its own namespace. No dashboard — kept lean for a single laptop.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26480" y="1874520"/>
            <a:ext cx="5257800" cy="1691640"/>
          </a:xfrm>
          <a:prstGeom prst="roundRect">
            <a:avLst>
              <a:gd name="adj" fmla="val 4324"/>
            </a:avLst>
          </a:prstGeom>
          <a:solidFill>
            <a:srgbClr val="F5F7FA"/>
          </a:solidFill>
          <a:ln/>
        </p:spPr>
      </p:sp>
      <p:sp>
        <p:nvSpPr>
          <p:cNvPr id="10" name="Shape 8"/>
          <p:cNvSpPr/>
          <p:nvPr/>
        </p:nvSpPr>
        <p:spPr>
          <a:xfrm>
            <a:off x="6355080" y="2103120"/>
            <a:ext cx="128016" cy="128016"/>
          </a:xfrm>
          <a:prstGeom prst="ellipse">
            <a:avLst/>
          </a:prstGeom>
          <a:solidFill>
            <a:srgbClr val="1F9D7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Prometheus + Grafana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355080" y="2468880"/>
            <a:ext cx="4800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Prometheus pod, 6h retention, scraping the three services directly. One provisioned Grafana dashboard for live observability.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840480"/>
            <a:ext cx="5257800" cy="1691640"/>
          </a:xfrm>
          <a:prstGeom prst="roundRect">
            <a:avLst>
              <a:gd name="adj" fmla="val 4324"/>
            </a:avLst>
          </a:prstGeom>
          <a:solidFill>
            <a:srgbClr val="F5F7FA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4069080"/>
            <a:ext cx="128016" cy="128016"/>
          </a:xfrm>
          <a:prstGeom prst="ellipse">
            <a:avLst/>
          </a:prstGeom>
          <a:solidFill>
            <a:srgbClr val="1F9D7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05840" y="3977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RBAC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4434840"/>
            <a:ext cx="4800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Scopes who may create, run, or delete Chaos Mesh custom resources in the namespace — a governance boundary, not a convention.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126480" y="3840480"/>
            <a:ext cx="5257800" cy="1691640"/>
          </a:xfrm>
          <a:prstGeom prst="roundRect">
            <a:avLst>
              <a:gd name="adj" fmla="val 4324"/>
            </a:avLst>
          </a:prstGeom>
          <a:solidFill>
            <a:srgbClr val="F5F7FA"/>
          </a:solidFill>
          <a:ln/>
        </p:spPr>
      </p:sp>
      <p:sp>
        <p:nvSpPr>
          <p:cNvPr id="18" name="Shape 16"/>
          <p:cNvSpPr/>
          <p:nvPr/>
        </p:nvSpPr>
        <p:spPr>
          <a:xfrm>
            <a:off x="6355080" y="4069080"/>
            <a:ext cx="128016" cy="128016"/>
          </a:xfrm>
          <a:prstGeom prst="ellipse">
            <a:avLst/>
          </a:prstGeom>
          <a:solidFill>
            <a:srgbClr val="1F9D75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583680" y="3977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k6 load generator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355080" y="4434840"/>
            <a:ext cx="4800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traffic so every experiment runs against real request volume, not an idle system.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96112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 Selection: The Landscape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1094415" cy="3291840"/>
        </p:xfrm>
        <a:graphic>
          <a:graphicData uri="http://schemas.openxmlformats.org/drawingml/2006/table">
            <a:tbl>
              <a:tblPr/>
              <a:tblGrid>
                <a:gridCol w="2743200"/>
                <a:gridCol w="3291840"/>
                <a:gridCol w="5056632"/>
              </a:tblGrid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CNCF / Kubernetes-native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Chaos Mesh, LitmusChaos, kube-monkey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Vendor-neutral, native CRDs, runs anywhere Kubernetes does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Cloud-provider native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Chaos Studio, AWS FIS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Deepest integration for a team on one hyperscaler; needs a cloud subscription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Commercial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Gremlin, Steadybit, Harness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Cross-platform governance and dashboards, at licensing cost and outside existing IAM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96112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Decision: Chaos Mesh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094415" cy="777240"/>
          </a:xfrm>
          <a:prstGeom prst="roundRect">
            <a:avLst>
              <a:gd name="adj" fmla="val 9412"/>
            </a:avLst>
          </a:prstGeom>
          <a:solidFill>
            <a:srgbClr val="1B2A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783080"/>
            <a:ext cx="1054577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tool, one operational surface to secure, covering the full fault taxonomy this architecture needs — pod-kill, network delay, network partition.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834640"/>
            <a:ext cx="11094415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5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CNCF-governed, vendor-neutral</a:t>
            </a:r>
            <a:endParaRPr lang="en-US" sz="155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5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CRDs — experiments are Kubernetes objects: version-controlled, PR-reviewed, deployed through the same pipeline as everything else</a:t>
            </a:r>
            <a:endParaRPr lang="en-US" sz="155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5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Kubernetes RBAC gives a real multi-tenant model: platform team owns templates, application teams get scoped trigger rights</a:t>
            </a:r>
            <a:endParaRPr lang="en-US" sz="155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5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/ Workflow CRDs support continuous verification, not just point-in-time exercises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96112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Alternatives Considered — and Rejected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834640" cy="704088"/>
          </a:xfrm>
          <a:prstGeom prst="roundRect">
            <a:avLst>
              <a:gd name="adj" fmla="val 7792"/>
            </a:avLst>
          </a:prstGeom>
          <a:solidFill>
            <a:srgbClr val="E8542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828800"/>
            <a:ext cx="256032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LitmusChaos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3611880" y="1828800"/>
            <a:ext cx="8031175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Equally CNCF-governed and capable, but the full ChaosCenter experience needs its own datastore. Heavier control plane for no functional gain at this scope.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670048"/>
            <a:ext cx="2834640" cy="704088"/>
          </a:xfrm>
          <a:prstGeom prst="roundRect">
            <a:avLst>
              <a:gd name="adj" fmla="val 7792"/>
            </a:avLst>
          </a:prstGeom>
          <a:solidFill>
            <a:srgbClr val="E8542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" y="2670048"/>
            <a:ext cx="256032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Gremlin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3611880" y="2670048"/>
            <a:ext cx="8031175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commercial comparison — rejected on build-vs-buy grounds: proprietary, licensing lock-in, a separate system of record outside the existing RBAC/IAM boundary.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511296"/>
            <a:ext cx="2834640" cy="704088"/>
          </a:xfrm>
          <a:prstGeom prst="roundRect">
            <a:avLst>
              <a:gd name="adj" fmla="val 7792"/>
            </a:avLst>
          </a:prstGeom>
          <a:solidFill>
            <a:srgbClr val="E8542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85800" y="3511296"/>
            <a:ext cx="256032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kube-monkey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3611880" y="3511296"/>
            <a:ext cx="8031175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Unmaintained, a single fault type.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352544"/>
            <a:ext cx="2834640" cy="704088"/>
          </a:xfrm>
          <a:prstGeom prst="roundRect">
            <a:avLst>
              <a:gd name="adj" fmla="val 7792"/>
            </a:avLst>
          </a:prstGeom>
          <a:solidFill>
            <a:srgbClr val="E8542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5800" y="4352544"/>
            <a:ext cx="256032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Chaos Toolkit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3611880" y="4352544"/>
            <a:ext cx="8031175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Considered for CI orchestration; would duplicate a small validation script for no functional gain at this scope.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5193792"/>
            <a:ext cx="2834640" cy="704088"/>
          </a:xfrm>
          <a:prstGeom prst="roundRect">
            <a:avLst>
              <a:gd name="adj" fmla="val 7792"/>
            </a:avLst>
          </a:prstGeom>
          <a:solidFill>
            <a:srgbClr val="E8542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5193792"/>
            <a:ext cx="256032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Azure Chaos Studio / AWS FIS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3611880" y="5193792"/>
            <a:ext cx="8031175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next step for a team already committed to one hyperscaler. Not adopted here by design, to stay portable to any laptop or CI runner.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96112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Resilience Patterns, In the Code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5F7FA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14884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B2A4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78892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Timeout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200400"/>
            <a:ext cx="2148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explicit, short upper bound (1.5s) on how long a caller waits — instead of the HTTP client's default.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83280" y="192024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5F7FA"/>
          </a:solidFill>
          <a:ln/>
        </p:spPr>
      </p:sp>
      <p:sp>
        <p:nvSpPr>
          <p:cNvPr id="11" name="Shape 9"/>
          <p:cNvSpPr/>
          <p:nvPr/>
        </p:nvSpPr>
        <p:spPr>
          <a:xfrm>
            <a:off x="3611880" y="214884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B2A4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611880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611880" y="278892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Retry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3611880" y="3200400"/>
            <a:ext cx="2148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bounded retry on a transient failure — bounded so retries can't themselves cause a request pile-up.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17920" y="192024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5F7FA"/>
          </a:solidFill>
          <a:ln/>
        </p:spPr>
      </p:sp>
      <p:sp>
        <p:nvSpPr>
          <p:cNvPr id="16" name="Shape 14"/>
          <p:cNvSpPr/>
          <p:nvPr/>
        </p:nvSpPr>
        <p:spPr>
          <a:xfrm>
            <a:off x="6446520" y="214884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B2A4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46520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278892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Circuit breaker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6446520" y="3200400"/>
            <a:ext cx="2148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calling a dependency once it has failed enough times in a row — fail fast instead of piling up doomed requests.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052560" y="192024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5F7FA"/>
          </a:solidFill>
          <a:ln/>
        </p:spPr>
      </p:sp>
      <p:sp>
        <p:nvSpPr>
          <p:cNvPr id="21" name="Shape 19"/>
          <p:cNvSpPr/>
          <p:nvPr/>
        </p:nvSpPr>
        <p:spPr>
          <a:xfrm>
            <a:off x="9281160" y="214884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B2A4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81160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9281160" y="278892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Fallback</a:t>
            </a:r>
            <a:endParaRPr lang="en-US" sz="1550" dirty="0"/>
          </a:p>
        </p:txBody>
      </p:sp>
      <p:sp>
        <p:nvSpPr>
          <p:cNvPr id="24" name="Text 22"/>
          <p:cNvSpPr txBox="1"/>
          <p:nvPr/>
        </p:nvSpPr>
        <p:spPr>
          <a:xfrm>
            <a:off x="9281160" y="3200400"/>
            <a:ext cx="2148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degraded but useful response instead of surfacing the failure — HTTP 200, "status": "degraded".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4617720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RESILIENT_MODE flag toggles each service between this behavior and a naive call path — the same codebase demonstrates both.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96112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 Catalog</a:t>
            </a:r>
            <a:endParaRPr lang="en-US" sz="3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11094415" cy="2651760"/>
        </p:xfrm>
        <a:graphic>
          <a:graphicData uri="http://schemas.openxmlformats.org/drawingml/2006/table">
            <a:tbl>
              <a:tblPr/>
              <a:tblGrid>
                <a:gridCol w="2377440"/>
                <a:gridCol w="3291840"/>
                <a:gridCol w="5422392"/>
              </a:tblGrid>
              <a:tr h="6629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Experiment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pod-kill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payment-api pod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a second replica absorb traffic without the order chain failing?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network-latency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payment-api → inventory-api link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added latency downstream stay within the order chain's p99 budget?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network-partition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payment-api ↔ inventory-api link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payment-api degrade gracefully, or hang and fail, when inventory-api is unreachable?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4892040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chaos/validate.py polls the order chain through each window and reports availability, the longest continuous outage, and how much of a monthly error budget that outage would consume.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96112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RBAC: A Real Boundary, Not a Convention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094415" cy="777240"/>
          </a:xfrm>
          <a:prstGeom prst="roundRect">
            <a:avLst>
              <a:gd name="adj" fmla="val 9412"/>
            </a:avLst>
          </a:prstGeom>
          <a:solidFill>
            <a:srgbClr val="1B2A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783080"/>
            <a:ext cx="1054577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Kubernetes RBAC scopes exactly who may create, run, or delete Chaos Mesh custom resources in the namespace.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880360"/>
            <a:ext cx="11094415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600"/>
              </a:spcAft>
              <a:buSzPct val="100000"/>
              <a:buChar char="●"/>
            </a:pPr>
            <a:r>
              <a:rPr lang="en-US" sz="16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platform team owns the experiment templates.</a:t>
            </a:r>
            <a:endParaRPr lang="en-US" sz="1600" dirty="0"/>
          </a:p>
          <a:p>
            <a:pPr marL="228600" indent="-228600">
              <a:spcAft>
                <a:spcPts val="1600"/>
              </a:spcAft>
              <a:buSzPct val="100000"/>
              <a:buChar char="●"/>
            </a:pPr>
            <a:r>
              <a:rPr lang="en-US" sz="16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teams get scoped trigger rights per namespace — they can run an approved experiment, not author an arbitrary one.</a:t>
            </a:r>
            <a:endParaRPr lang="en-US" sz="1600" dirty="0"/>
          </a:p>
          <a:p>
            <a:pPr marL="228600" indent="-228600">
              <a:spcAft>
                <a:spcPts val="1600"/>
              </a:spcAft>
              <a:buSzPct val="100000"/>
              <a:buChar char="●"/>
            </a:pPr>
            <a:r>
              <a:rPr lang="en-US" sz="16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same governance model as any other production-facing control: least privilege, applied to the ability to inject failure.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96112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Resilience Gate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chaos-pipeline.yml runs on every push.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3566160" cy="1188720"/>
          </a:xfrm>
          <a:prstGeom prst="roundRect">
            <a:avLst>
              <a:gd name="adj" fmla="val 6154"/>
            </a:avLst>
          </a:prstGeom>
          <a:solidFill>
            <a:srgbClr val="F5F7F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25786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01752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three service images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2468880"/>
            <a:ext cx="3566160" cy="1188720"/>
          </a:xfrm>
          <a:prstGeom prst="roundRect">
            <a:avLst>
              <a:gd name="adj" fmla="val 6154"/>
            </a:avLst>
          </a:prstGeom>
          <a:solidFill>
            <a:srgbClr val="F5F7F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26280" y="25786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526280" y="301752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an ephemeral kind cluster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38160" y="2468880"/>
            <a:ext cx="3566160" cy="1188720"/>
          </a:xfrm>
          <a:prstGeom prst="roundRect">
            <a:avLst>
              <a:gd name="adj" fmla="val 6154"/>
            </a:avLst>
          </a:prstGeom>
          <a:solidFill>
            <a:srgbClr val="F5F7F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321040" y="25786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301752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chain, install Chaos Mesh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886200"/>
            <a:ext cx="3566160" cy="1188720"/>
          </a:xfrm>
          <a:prstGeom prst="roundRect">
            <a:avLst>
              <a:gd name="adj" fmla="val 6154"/>
            </a:avLst>
          </a:prstGeom>
          <a:solidFill>
            <a:srgbClr val="F5F7F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1520" y="39959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443484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background load with k6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343400" y="3886200"/>
            <a:ext cx="3566160" cy="1188720"/>
          </a:xfrm>
          <a:prstGeom prst="roundRect">
            <a:avLst>
              <a:gd name="adj" fmla="val 6154"/>
            </a:avLst>
          </a:prstGeom>
          <a:solidFill>
            <a:srgbClr val="F5F7F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526280" y="39959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4526280" y="443484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each experiment in turn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138160" y="3886200"/>
            <a:ext cx="3566160" cy="1188720"/>
          </a:xfrm>
          <a:prstGeom prst="roundRect">
            <a:avLst>
              <a:gd name="adj" fmla="val 6154"/>
            </a:avLst>
          </a:prstGeom>
          <a:solidFill>
            <a:srgbClr val="E8542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321040" y="39959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8321040" y="443484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the build if recovery exceeds the stated SLA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486400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change that breaks recovery behavior does not merge silently. With resilient mode as the deployed default, this gate is expected to stay green.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96112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Demo: Before vs. After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second, workflow_dispatch-only pipeline runs the same network-partition experiment twice against the same deployment.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5257800" cy="2743200"/>
          </a:xfrm>
          <a:prstGeom prst="roundRect">
            <a:avLst>
              <a:gd name="adj" fmla="val 3333"/>
            </a:avLst>
          </a:prstGeom>
          <a:solidFill>
            <a:srgbClr val="F5F7FA"/>
          </a:solidFill>
          <a:ln w="25400">
            <a:solidFill>
              <a:srgbClr val="E854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788920"/>
            <a:ext cx="2011680" cy="411480"/>
          </a:xfrm>
          <a:prstGeom prst="roundRect">
            <a:avLst>
              <a:gd name="adj" fmla="val 48889"/>
            </a:avLst>
          </a:prstGeom>
          <a:solidFill>
            <a:srgbClr val="E8542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7889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mode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429000"/>
            <a:ext cx="4709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timeout tuning, no retry, no fallback.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343400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the stated SLA — expected, and marked continue-on-error.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26480" y="2514600"/>
            <a:ext cx="5257800" cy="2743200"/>
          </a:xfrm>
          <a:prstGeom prst="roundRect">
            <a:avLst>
              <a:gd name="adj" fmla="val 3333"/>
            </a:avLst>
          </a:prstGeom>
          <a:solidFill>
            <a:srgbClr val="F5F7FA"/>
          </a:solidFill>
          <a:ln w="25400">
            <a:solidFill>
              <a:srgbClr val="1F9D7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2788920"/>
            <a:ext cx="2011680" cy="411480"/>
          </a:xfrm>
          <a:prstGeom prst="roundRect">
            <a:avLst>
              <a:gd name="adj" fmla="val 48889"/>
            </a:avLst>
          </a:prstGeom>
          <a:solidFill>
            <a:srgbClr val="1F9D7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0" y="27889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Resilient mode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3429000"/>
            <a:ext cx="4709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timeout, one bounded retry, circuit breaker, graceful fallback.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4343400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9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Passes — recovers within the SLA.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486400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code, same fault, one flag — the failure and the recovery, side by side in a single run's logs.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96112"/>
            <a:ext cx="11094415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Verified Finding: Resilience Compounds Across Hops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4884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●"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payment-api alone, naive, calling a dead inventory-api: </a:t>
            </a:r>
            <a:pPr indent="0" marL="0">
              <a:buNone/>
            </a:pPr>
            <a:r>
              <a:rPr lang="en-US" sz="14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hard 502 in ~2s.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62072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●"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failing payment-api, called through a still-resilient order-api: </a:t>
            </a:r>
            <a:pPr indent="0" marL="0">
              <a:buNone/>
            </a:pPr>
            <a:r>
              <a:rPr lang="en-US" sz="14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overall request still returns 200, degraded. order-api's own timeout, retry, and fallback absorbed a naive failure one hop downstream.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575304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●"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chain in naive mode: </a:t>
            </a:r>
            <a:pPr indent="0" marL="0">
              <a:buNone/>
            </a:pPr>
            <a:r>
              <a:rPr lang="en-US" sz="14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502 propagates all the way to the caller.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4425696"/>
            <a:ext cx="11094415" cy="91440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4425696"/>
            <a:ext cx="1054577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 patterns compound across a call chain — which also means a single resilient hop can quietly mask a naive one underneath it. Useful in a pinch, not a substitute for applying the pattern at every hop.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96112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Maturity Model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094415" cy="548640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965960"/>
            <a:ext cx="78940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resilience testing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11094415" cy="548640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2651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2651760"/>
            <a:ext cx="78940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Manual, occasional experiments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337560"/>
            <a:ext cx="11094415" cy="548640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3337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1463040" y="3337560"/>
            <a:ext cx="78940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GameDays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11094415" cy="548640"/>
          </a:xfrm>
          <a:prstGeom prst="roundRect">
            <a:avLst>
              <a:gd name="adj" fmla="val 10000"/>
            </a:avLst>
          </a:prstGeom>
          <a:solidFill>
            <a:srgbClr val="E8542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4023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4023360"/>
            <a:ext cx="78940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CI/CD-gated — this architecture, today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9722815" y="402336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4709160"/>
            <a:ext cx="11094415" cy="548640"/>
          </a:xfrm>
          <a:prstGeom prst="roundRect">
            <a:avLst>
              <a:gd name="adj" fmla="val 10000"/>
            </a:avLst>
          </a:prstGeom>
          <a:solidFill>
            <a:srgbClr val="1F9D75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77240" y="4709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1463040" y="4709160"/>
            <a:ext cx="78940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Continuous, RBAC-scoped verification in production, feeding the error budget directly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9722815" y="470916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5623560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is the target this reference architecture is designed to grow into — not something it runs today.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96112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Deliberately Out of Scope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11094415" cy="1737360"/>
          </a:xfrm>
          <a:prstGeom prst="roundRect">
            <a:avLst>
              <a:gd name="adj" fmla="val 4211"/>
            </a:avLst>
          </a:prstGeom>
          <a:solidFill>
            <a:srgbClr val="F5F7FA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2860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B2A4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Ø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240280"/>
            <a:ext cx="97228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 mesh fault injection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2697480"/>
            <a:ext cx="97228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Istio VirtualService faults — a real second maturity layer, for platforms already running a mesh.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4114800"/>
            <a:ext cx="11094415" cy="1737360"/>
          </a:xfrm>
          <a:prstGeom prst="roundRect">
            <a:avLst>
              <a:gd name="adj" fmla="val 4211"/>
            </a:avLst>
          </a:prstGeom>
          <a:solidFill>
            <a:srgbClr val="F5F7FA"/>
          </a:solidFill>
          <a:ln/>
        </p:spPr>
      </p:sp>
      <p:sp>
        <p:nvSpPr>
          <p:cNvPr id="11" name="Shape 9"/>
          <p:cNvSpPr/>
          <p:nvPr/>
        </p:nvSpPr>
        <p:spPr>
          <a:xfrm>
            <a:off x="868680" y="43891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B2A4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Ø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554480" y="4343400"/>
            <a:ext cx="97228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Event-driven / asynchronous architecture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4800600"/>
            <a:ext cx="97228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queues and event buses change the failure mode entirely, and deserve their own evaluation.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943600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here as scoping decisions, not gaps.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3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377440"/>
            <a:ext cx="1109441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</a:t>
            </a:r>
            <a:endParaRPr lang="en-US" sz="5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52044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DEF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implementation, ADRs, and CI pipeline: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4023360"/>
            <a:ext cx="5669280" cy="548640"/>
          </a:xfrm>
          <a:prstGeom prst="roundRect">
            <a:avLst>
              <a:gd name="adj" fmla="val 16667"/>
            </a:avLst>
          </a:prstGeom>
          <a:solidFill>
            <a:srgbClr val="1B2A4A"/>
          </a:solidFill>
          <a:ln w="19050">
            <a:solidFill>
              <a:srgbClr val="E8542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402336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github.com/SHasina/Chaos-Engineering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Chaos Engineering: An SLO-Driven Reference Architecture</dc:title>
  <dc:subject>PptxGenJS Presentation</dc:subject>
  <dc:creator>Resilience Lab</dc:creator>
  <cp:lastModifiedBy>Resilience Lab</cp:lastModifiedBy>
  <cp:revision>1</cp:revision>
  <dcterms:created xsi:type="dcterms:W3CDTF">2026-09-20T06:02:06Z</dcterms:created>
  <dcterms:modified xsi:type="dcterms:W3CDTF">2026-09-20T06:02:06Z</dcterms:modified>
</cp:coreProperties>
</file>